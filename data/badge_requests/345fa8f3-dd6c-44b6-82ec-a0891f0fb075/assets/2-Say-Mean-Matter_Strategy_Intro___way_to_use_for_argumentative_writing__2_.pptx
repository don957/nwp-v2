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6E1994-641F-4AA3-9CB2-3854524CF776}">
  <a:tblStyle styleId="{386E1994-641F-4AA3-9CB2-3854524CF7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d8291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ccd8291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ccd8291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ccd8291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ccd8291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ccd8291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ccd82913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ccd82913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cd82913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ccd82913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ccd82913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ccd82913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ccd8291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ccd8291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ccd82913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ccd8291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ccd8291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ccd8291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out this funny </a:t>
            </a:r>
            <a:r>
              <a:rPr lang="en"/>
              <a:t>Tik Tok</a:t>
            </a:r>
            <a:r>
              <a:rPr lang="en"/>
              <a:t> I found!  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(Link here to safe/school appropriate video)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I need a REACTION! </a:t>
            </a:r>
            <a:endParaRPr b="1" sz="35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3600" u="sng">
                <a:solidFill>
                  <a:schemeClr val="dk1"/>
                </a:solidFill>
              </a:rPr>
              <a:t>SAY:</a:t>
            </a:r>
            <a:r>
              <a:rPr lang="en" sz="3600" u="sng">
                <a:solidFill>
                  <a:schemeClr val="dk1"/>
                </a:solidFill>
              </a:rPr>
              <a:t> </a:t>
            </a:r>
            <a:r>
              <a:rPr lang="en" sz="3600">
                <a:solidFill>
                  <a:schemeClr val="dk1"/>
                </a:solidFill>
              </a:rPr>
              <a:t>“What happened?”</a:t>
            </a:r>
            <a:br>
              <a:rPr lang="en" sz="3600">
                <a:solidFill>
                  <a:schemeClr val="dk1"/>
                </a:solidFill>
              </a:rPr>
            </a:br>
            <a:r>
              <a:rPr lang="en" sz="3600">
                <a:solidFill>
                  <a:schemeClr val="dk1"/>
                </a:solidFill>
              </a:rPr>
              <a:t> </a:t>
            </a:r>
            <a:r>
              <a:rPr b="1" lang="en" sz="3600" u="sng">
                <a:solidFill>
                  <a:schemeClr val="dk1"/>
                </a:solidFill>
              </a:rPr>
              <a:t>MEAN:</a:t>
            </a:r>
            <a:r>
              <a:rPr lang="en" sz="3600">
                <a:solidFill>
                  <a:schemeClr val="dk1"/>
                </a:solidFill>
              </a:rPr>
              <a:t> “What does that mean or show?”</a:t>
            </a:r>
            <a:br>
              <a:rPr lang="en" sz="3600">
                <a:solidFill>
                  <a:schemeClr val="dk1"/>
                </a:solidFill>
              </a:rPr>
            </a:br>
            <a:r>
              <a:rPr lang="en" sz="3600">
                <a:solidFill>
                  <a:schemeClr val="dk1"/>
                </a:solidFill>
              </a:rPr>
              <a:t> </a:t>
            </a:r>
            <a:r>
              <a:rPr b="1" lang="en" sz="3600" u="sng">
                <a:solidFill>
                  <a:schemeClr val="dk1"/>
                </a:solidFill>
              </a:rPr>
              <a:t>MATTER:</a:t>
            </a:r>
            <a:r>
              <a:rPr lang="en" sz="3600">
                <a:solidFill>
                  <a:schemeClr val="dk1"/>
                </a:solidFill>
              </a:rPr>
              <a:t> “Why does that moment matter in the clip?”</a:t>
            </a:r>
            <a:endParaRPr sz="4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20"/>
              <a:t>Phew!  That was EASY!  </a:t>
            </a:r>
            <a:endParaRPr sz="35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Using these 3 SIMPLE strategies is a way for our BRAINS to </a:t>
            </a:r>
            <a:r>
              <a:rPr b="1" i="1" lang="en" sz="2400" u="sng"/>
              <a:t>analyze</a:t>
            </a:r>
            <a:r>
              <a:rPr b="1" lang="en" sz="2400"/>
              <a:t> (there’s that vocabulary word again) what we have SEEN or READ!  </a:t>
            </a:r>
            <a:endParaRPr b="1"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SEE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MEAN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MATTER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let’s try to analyze a piece of evidence. 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What if I told you that: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Studies show that middle schoolers that get extra sleep perform better in school?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What does that SAY?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What does it MEAN?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Why does that MATTER? 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370"/>
              <a:t>SAY → Evidence</a:t>
            </a:r>
            <a:endParaRPr b="1" sz="337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37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What does the evidence say?</a:t>
            </a:r>
            <a:endParaRPr b="1" sz="22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200">
                <a:solidFill>
                  <a:schemeClr val="dk1"/>
                </a:solidFill>
              </a:rPr>
              <a:t>Put it in your own words.</a:t>
            </a:r>
            <a:br>
              <a:rPr b="1" lang="en" sz="2200">
                <a:solidFill>
                  <a:schemeClr val="dk1"/>
                </a:solidFill>
              </a:rPr>
            </a:br>
            <a:endParaRPr b="1" sz="22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200">
                <a:solidFill>
                  <a:schemeClr val="dk1"/>
                </a:solidFill>
              </a:rPr>
              <a:t>Make sure you understand it.</a:t>
            </a:r>
            <a:br>
              <a:rPr b="1" lang="en" sz="2200">
                <a:solidFill>
                  <a:schemeClr val="dk1"/>
                </a:solidFill>
              </a:rPr>
            </a:b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Sentence starters:</a:t>
            </a:r>
            <a:endParaRPr b="1" sz="22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200">
                <a:solidFill>
                  <a:schemeClr val="dk1"/>
                </a:solidFill>
              </a:rPr>
              <a:t>“The evidence says…”</a:t>
            </a:r>
            <a:br>
              <a:rPr b="1" lang="en" sz="2200">
                <a:solidFill>
                  <a:schemeClr val="dk1"/>
                </a:solidFill>
              </a:rPr>
            </a:br>
            <a:endParaRPr b="1" sz="22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200">
                <a:solidFill>
                  <a:schemeClr val="dk1"/>
                </a:solidFill>
              </a:rPr>
              <a:t>“The text states…”</a:t>
            </a:r>
            <a:br>
              <a:rPr b="1" lang="en" sz="2200">
                <a:solidFill>
                  <a:schemeClr val="dk1"/>
                </a:solidFill>
              </a:rPr>
            </a:br>
            <a:endParaRPr b="1" sz="22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200">
                <a:solidFill>
                  <a:schemeClr val="dk1"/>
                </a:solidFill>
              </a:rPr>
              <a:t>“According to the study…”</a:t>
            </a:r>
            <a:br>
              <a:rPr b="1" lang="en" sz="2200">
                <a:solidFill>
                  <a:schemeClr val="dk1"/>
                </a:solidFill>
              </a:rPr>
            </a:b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MEAN → Explanation</a:t>
            </a:r>
            <a:endParaRPr b="1"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913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does the evidence mean?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Explain what it shows.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Sentence starters: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“This means…”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“This shows that…”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“In other words…”</a:t>
            </a:r>
            <a:br>
              <a:rPr lang="en" sz="1700">
                <a:solidFill>
                  <a:schemeClr val="dk1"/>
                </a:solidFill>
              </a:rPr>
            </a:b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400"/>
              <a:t>MATTER → Reasoning</a:t>
            </a:r>
            <a:endParaRPr b="1"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17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b="1" lang="en" sz="2850">
                <a:solidFill>
                  <a:schemeClr val="dk1"/>
                </a:solidFill>
              </a:rPr>
              <a:t>Why does it matter to your argument?</a:t>
            </a:r>
            <a:endParaRPr b="1" sz="2850">
              <a:solidFill>
                <a:schemeClr val="dk1"/>
              </a:solidFill>
            </a:endParaRPr>
          </a:p>
          <a:p>
            <a:pPr indent="-3145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Connect the evidence back to your claim.</a:t>
            </a:r>
            <a:br>
              <a:rPr lang="en" sz="2850">
                <a:solidFill>
                  <a:schemeClr val="dk1"/>
                </a:solidFill>
              </a:rPr>
            </a:br>
            <a:endParaRPr sz="2850">
              <a:solidFill>
                <a:schemeClr val="dk1"/>
              </a:solidFill>
            </a:endParaRPr>
          </a:p>
          <a:p>
            <a:pPr indent="-3145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Show why your point is stronger.</a:t>
            </a:r>
            <a:br>
              <a:rPr lang="en" sz="2850">
                <a:solidFill>
                  <a:schemeClr val="dk1"/>
                </a:solidFill>
              </a:rPr>
            </a:br>
            <a:endParaRPr sz="2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b="1" lang="en" sz="2850">
                <a:solidFill>
                  <a:schemeClr val="dk1"/>
                </a:solidFill>
              </a:rPr>
              <a:t>Sentence starters:</a:t>
            </a:r>
            <a:endParaRPr b="1" sz="2850">
              <a:solidFill>
                <a:schemeClr val="dk1"/>
              </a:solidFill>
            </a:endParaRPr>
          </a:p>
          <a:p>
            <a:pPr indent="-3145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“This matters because…”</a:t>
            </a:r>
            <a:br>
              <a:rPr lang="en" sz="2850">
                <a:solidFill>
                  <a:schemeClr val="dk1"/>
                </a:solidFill>
              </a:rPr>
            </a:br>
            <a:endParaRPr sz="2850">
              <a:solidFill>
                <a:schemeClr val="dk1"/>
              </a:solidFill>
            </a:endParaRPr>
          </a:p>
          <a:p>
            <a:pPr indent="-3145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“This is important since…”</a:t>
            </a:r>
            <a:br>
              <a:rPr lang="en" sz="2850">
                <a:solidFill>
                  <a:schemeClr val="dk1"/>
                </a:solidFill>
              </a:rPr>
            </a:br>
            <a:endParaRPr sz="2850">
              <a:solidFill>
                <a:schemeClr val="dk1"/>
              </a:solidFill>
            </a:endParaRPr>
          </a:p>
          <a:p>
            <a:pPr indent="-3145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“This supports my claim by…”</a:t>
            </a:r>
            <a:br>
              <a:rPr lang="en" sz="2850">
                <a:solidFill>
                  <a:schemeClr val="dk1"/>
                </a:solidFill>
              </a:rPr>
            </a:br>
            <a:endParaRPr sz="2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I heard you…..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884275"/>
            <a:ext cx="8520600" cy="3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350">
                <a:solidFill>
                  <a:schemeClr val="dk1"/>
                </a:solidFill>
              </a:rPr>
              <a:t>SAY:</a:t>
            </a:r>
            <a:r>
              <a:rPr lang="en" sz="7350">
                <a:solidFill>
                  <a:schemeClr val="dk1"/>
                </a:solidFill>
              </a:rPr>
              <a:t> “The study says kids do better in school when they sleep more.”</a:t>
            </a:r>
            <a:br>
              <a:rPr lang="en" sz="7350">
                <a:solidFill>
                  <a:schemeClr val="dk1"/>
                </a:solidFill>
              </a:rPr>
            </a:br>
            <a:endParaRPr sz="7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7350">
                <a:solidFill>
                  <a:schemeClr val="dk1"/>
                </a:solidFill>
              </a:rPr>
              <a:t>Which means, </a:t>
            </a:r>
            <a:endParaRPr i="1" sz="7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350">
                <a:solidFill>
                  <a:schemeClr val="dk1"/>
                </a:solidFill>
              </a:rPr>
              <a:t>MEAN:</a:t>
            </a:r>
            <a:r>
              <a:rPr lang="en" sz="7350">
                <a:solidFill>
                  <a:schemeClr val="dk1"/>
                </a:solidFill>
              </a:rPr>
              <a:t> “This means sleep helps kids focus and learn.”</a:t>
            </a:r>
            <a:br>
              <a:rPr lang="en" sz="7350">
                <a:solidFill>
                  <a:schemeClr val="dk1"/>
                </a:solidFill>
              </a:rPr>
            </a:br>
            <a:endParaRPr sz="7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7350">
                <a:solidFill>
                  <a:schemeClr val="dk1"/>
                </a:solidFill>
              </a:rPr>
              <a:t>And that matters why? </a:t>
            </a:r>
            <a:endParaRPr i="1" sz="7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7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350">
                <a:solidFill>
                  <a:schemeClr val="dk1"/>
                </a:solidFill>
              </a:rPr>
              <a:t>MATTER:</a:t>
            </a:r>
            <a:r>
              <a:rPr lang="en" sz="7350">
                <a:solidFill>
                  <a:schemeClr val="dk1"/>
                </a:solidFill>
              </a:rPr>
              <a:t> “This matters because it shows a later start time could actually help students do better in school.”</a:t>
            </a:r>
            <a:br>
              <a:rPr lang="en" sz="7350">
                <a:solidFill>
                  <a:schemeClr val="dk1"/>
                </a:solidFill>
              </a:rPr>
            </a:br>
            <a:endParaRPr sz="7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7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what TWO brains come up with!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“Students who sleep more report feeling less stressed.”</a:t>
            </a:r>
            <a:endParaRPr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“Schools that start later see fewer tardies.”</a:t>
            </a:r>
            <a:endParaRPr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*Choose one and write out what it SAYS, MEANS, MATTERS. </a:t>
            </a:r>
            <a:br>
              <a:rPr lang="en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Re-create this CHART in your ILOG: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922450"/>
            <a:ext cx="8520600" cy="3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CLAIM:  School should start later.  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/>
              <a:t>Evidence you chose: </a:t>
            </a:r>
            <a:endParaRPr b="1" sz="2200"/>
          </a:p>
        </p:txBody>
      </p:sp>
      <p:graphicFrame>
        <p:nvGraphicFramePr>
          <p:cNvPr id="110" name="Google Shape;110;p22"/>
          <p:cNvGraphicFramePr/>
          <p:nvPr/>
        </p:nvGraphicFramePr>
        <p:xfrm>
          <a:off x="388050" y="2031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{386E1994-641F-4AA3-9CB2-3854524CF776}</a:tableStyleId>
              </a:tblPr>
              <a:tblGrid>
                <a:gridCol w="3070175"/>
                <a:gridCol w="2725200"/>
                <a:gridCol w="272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600"/>
                        <a:t>SAY</a:t>
                      </a:r>
                      <a:endParaRPr b="1" sz="2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600"/>
                        <a:t>MEAN</a:t>
                      </a:r>
                      <a:endParaRPr b="1" sz="2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600"/>
                        <a:t>MATTER</a:t>
                      </a:r>
                      <a:endParaRPr b="1" sz="2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What does the evidence say?  Write this in your own words.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What does this evidence </a:t>
                      </a:r>
                      <a:r>
                        <a:rPr b="1" lang="en"/>
                        <a:t>mean?  Explain what it shows.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Why does this evidence matter?  Connect this to your main point or claim. 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