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Constantia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Constantia-bold.fntdata"/><Relationship Id="rId12" Type="http://schemas.openxmlformats.org/officeDocument/2006/relationships/font" Target="fonts/Constanti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onstantia-boldItalic.fntdata"/><Relationship Id="rId14" Type="http://schemas.openxmlformats.org/officeDocument/2006/relationships/font" Target="fonts/Constanti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63a8bf68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63a8bf68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63a8bf68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63a8bf68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f63a8bf68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f63a8bf68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f63a8bf68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f63a8bf68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f63a8bf68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f63a8bf68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78925" y="282325"/>
            <a:ext cx="8520600" cy="107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Say-Mean-Matter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384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How the Grinch Stole Christmas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What is Say-Mean-Matter?</a:t>
            </a:r>
            <a:endParaRPr sz="28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18250"/>
            <a:ext cx="4446000" cy="29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67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Color-Coded Example:</a:t>
            </a:r>
            <a:endParaRPr b="1" sz="2867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75318"/>
              <a:buFont typeface="Arial"/>
              <a:buNone/>
            </a:pPr>
            <a:r>
              <a:rPr b="1" lang="en" sz="2124">
                <a:solidFill>
                  <a:schemeClr val="lt1"/>
                </a:solidFill>
                <a:highlight>
                  <a:srgbClr val="27AAE2"/>
                </a:highlight>
                <a:latin typeface="Calibri"/>
                <a:ea typeface="Calibri"/>
                <a:cs typeface="Calibri"/>
                <a:sym typeface="Calibri"/>
              </a:rPr>
              <a:t>SAY</a:t>
            </a:r>
            <a:r>
              <a:rPr lang="en" sz="2124">
                <a:solidFill>
                  <a:schemeClr val="lt1"/>
                </a:solidFill>
                <a:highlight>
                  <a:srgbClr val="27AAE2"/>
                </a:highlight>
                <a:latin typeface="Calibri"/>
                <a:ea typeface="Calibri"/>
                <a:cs typeface="Calibri"/>
                <a:sym typeface="Calibri"/>
              </a:rPr>
              <a:t> + template to give credit to the source</a:t>
            </a:r>
            <a:r>
              <a:rPr lang="en" sz="212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212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12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212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2124">
                <a:solidFill>
                  <a:schemeClr val="lt1"/>
                </a:solidFill>
                <a:highlight>
                  <a:srgbClr val="945AA3"/>
                </a:highlight>
                <a:latin typeface="Calibri"/>
                <a:ea typeface="Calibri"/>
                <a:cs typeface="Calibri"/>
                <a:sym typeface="Calibri"/>
              </a:rPr>
              <a:t>MEAN</a:t>
            </a:r>
            <a:r>
              <a:rPr lang="en" sz="2124">
                <a:solidFill>
                  <a:schemeClr val="lt1"/>
                </a:solidFill>
                <a:highlight>
                  <a:srgbClr val="945AA3"/>
                </a:highlight>
                <a:latin typeface="Calibri"/>
                <a:ea typeface="Calibri"/>
                <a:cs typeface="Calibri"/>
                <a:sym typeface="Calibri"/>
              </a:rPr>
              <a:t> + template   </a:t>
            </a:r>
            <a:br>
              <a:rPr lang="en" sz="2124">
                <a:solidFill>
                  <a:schemeClr val="lt1"/>
                </a:solidFill>
                <a:highlight>
                  <a:srgbClr val="945AA3"/>
                </a:highlight>
                <a:latin typeface="Calibri"/>
                <a:ea typeface="Calibri"/>
                <a:cs typeface="Calibri"/>
                <a:sym typeface="Calibri"/>
              </a:rPr>
            </a:br>
            <a:br>
              <a:rPr lang="en" sz="212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2124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MATTER</a:t>
            </a:r>
            <a:r>
              <a:rPr lang="en" sz="2124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+ template</a:t>
            </a:r>
            <a:r>
              <a:rPr lang="en" sz="212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2424">
                <a:solidFill>
                  <a:schemeClr val="lt1"/>
                </a:solidFill>
              </a:rPr>
              <a:t> </a:t>
            </a:r>
            <a:endParaRPr b="1" sz="3624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4873800" y="588300"/>
            <a:ext cx="3958500" cy="3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1"/>
              <a:buFont typeface="Arial"/>
              <a:buNone/>
            </a:pPr>
            <a:r>
              <a:rPr b="1" lang="en" sz="2000">
                <a:solidFill>
                  <a:schemeClr val="lt1"/>
                </a:solidFill>
                <a:highlight>
                  <a:srgbClr val="27AAE2"/>
                </a:highlight>
                <a:latin typeface="Calibri"/>
                <a:ea typeface="Calibri"/>
                <a:cs typeface="Calibri"/>
                <a:sym typeface="Calibri"/>
              </a:rPr>
              <a:t>Famous baseball</a:t>
            </a:r>
            <a:r>
              <a:rPr b="1" lang="en" sz="2000">
                <a:solidFill>
                  <a:schemeClr val="lt1"/>
                </a:solidFill>
                <a:highlight>
                  <a:srgbClr val="27AAE2"/>
                </a:highlight>
                <a:latin typeface="Calibri"/>
                <a:ea typeface="Calibri"/>
                <a:cs typeface="Calibri"/>
                <a:sym typeface="Calibri"/>
              </a:rPr>
              <a:t> player Babe Ruth states,</a:t>
            </a:r>
            <a:r>
              <a:rPr lang="en" sz="2000">
                <a:solidFill>
                  <a:schemeClr val="lt1"/>
                </a:solidFill>
                <a:highlight>
                  <a:srgbClr val="27AAE2"/>
                </a:highlight>
                <a:latin typeface="Calibri"/>
                <a:ea typeface="Calibri"/>
                <a:cs typeface="Calibri"/>
                <a:sym typeface="Calibri"/>
              </a:rPr>
              <a:t> “Never let the fear of striking out keep you from playing the game.” </a:t>
            </a:r>
            <a:r>
              <a:rPr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2000">
                <a:solidFill>
                  <a:schemeClr val="lt1"/>
                </a:solidFill>
                <a:highlight>
                  <a:srgbClr val="945AA3"/>
                </a:highlight>
                <a:latin typeface="Calibri"/>
                <a:ea typeface="Calibri"/>
                <a:cs typeface="Calibri"/>
                <a:sym typeface="Calibri"/>
              </a:rPr>
              <a:t>This quote means</a:t>
            </a:r>
            <a:r>
              <a:rPr lang="en" sz="2000">
                <a:solidFill>
                  <a:schemeClr val="lt1"/>
                </a:solidFill>
                <a:highlight>
                  <a:srgbClr val="945AA3"/>
                </a:highlight>
                <a:latin typeface="Calibri"/>
                <a:ea typeface="Calibri"/>
                <a:cs typeface="Calibri"/>
                <a:sym typeface="Calibri"/>
              </a:rPr>
              <a:t> that people who aren’t willing to take a risk will never get good at doing something.</a:t>
            </a:r>
            <a:r>
              <a:rPr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Knowing this 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persuades us to not be afraid of failure in our quest to succeed. If everyone tried to avoid failure, there would be no successful people—baseball players or otherwise. 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AE5E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b="1" lang="en" sz="2900">
                <a:solidFill>
                  <a:srgbClr val="EFC31A"/>
                </a:solidFill>
                <a:latin typeface="Constantia"/>
                <a:ea typeface="Constantia"/>
                <a:cs typeface="Constantia"/>
                <a:sym typeface="Constantia"/>
              </a:rPr>
              <a:t>12th grade, self-selected research project</a:t>
            </a:r>
            <a:endParaRPr b="1" sz="2900">
              <a:solidFill>
                <a:srgbClr val="EFC31A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1" y="1422875"/>
            <a:ext cx="8839199" cy="2925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b="1" lang="en" sz="2900">
                <a:latin typeface="Constantia"/>
                <a:ea typeface="Constantia"/>
                <a:cs typeface="Constantia"/>
                <a:sym typeface="Constantia"/>
              </a:rPr>
              <a:t>11th grade, teacher-selected quote from an article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46175"/>
            <a:ext cx="8141851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AE5E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Turn!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017725"/>
            <a:ext cx="3882000" cy="39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</a:rPr>
              <a:t>S</a:t>
            </a:r>
            <a:r>
              <a:rPr lang="en" sz="2801">
                <a:solidFill>
                  <a:schemeClr val="lt1"/>
                </a:solidFill>
              </a:rPr>
              <a:t>ay: Cindy Lou Who says “No matter how different a Who may appear, he will always be welcomed with holiday cheer.</a:t>
            </a:r>
            <a:endParaRPr sz="280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01">
                <a:solidFill>
                  <a:schemeClr val="dk1"/>
                </a:solidFill>
              </a:rPr>
              <a:t>Mean: This means that no matter what someone looks like or how different then us they are, they should be treated the same way we want to be treated.</a:t>
            </a:r>
            <a:endParaRPr sz="280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801">
                <a:solidFill>
                  <a:srgbClr val="00FF00"/>
                </a:solidFill>
              </a:rPr>
              <a:t>Matter: This matters because people should be treated the same no matter what.</a:t>
            </a:r>
            <a:endParaRPr sz="2801">
              <a:solidFill>
                <a:srgbClr val="00FF00"/>
              </a:solidFill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6248" y="482726"/>
            <a:ext cx="4319125" cy="43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252875" y="226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  *Pick a quote you like and do your Say-Mean-Matter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876" y="1152476"/>
            <a:ext cx="2265075" cy="226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3900" y="1007550"/>
            <a:ext cx="2554925" cy="255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7950" y="1816024"/>
            <a:ext cx="2054050" cy="2752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2038" y="2620725"/>
            <a:ext cx="2219325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